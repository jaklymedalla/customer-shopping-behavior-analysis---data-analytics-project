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 Condensed Bold"/>
      <p:regular r:id="rId201314"/>
    </p:embeddedFont>
    <p:embeddedFont>
      <p:font typeface="IBM Plex Mono Medium"/>
      <p:regular r:id="rId201315"/>
    </p:embeddedFont>
    <p:embeddedFont>
      <p:font typeface="IBM Plex Mono SemiBold"/>
      <p:regular r:id="rId201316"/>
    </p:embeddedFont>
    <p:embeddedFont>
      <p:font typeface="Source Sans 3"/>
      <p:regular r:id="rId201317"/>
    </p:embeddedFont>
    <p:embeddedFont>
      <p:font typeface="Source Sans 3 SemiBold"/>
      <p:regular r:id="rId201318"/>
    </p:embeddedFont>
    <p:embeddedFont>
      <p:font typeface="Source Sans 3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central shift: 3,900 transactions become a set of practical growth decisions across subscriptions, loyalty, discounts, products, and targeting.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711200"/>
            <a:ext cx="5968851" cy="4191000"/>
          </a:xfrm>
          <a:prstGeom prst="rect">
            <a:avLst/>
          </a:prstGeom>
          <a:solidFill>
            <a:srgbClr val="F8F5EE"/>
          </a:solidFill>
          <a:ln/>
        </p:spPr>
      </p:sp>
      <p:sp>
        <p:nvSpPr>
          <p:cNvPr id="3" name="Text 1"/>
          <p:cNvSpPr/>
          <p:nvPr/>
        </p:nvSpPr>
        <p:spPr>
          <a:xfrm>
            <a:off x="914377" y="1100931"/>
            <a:ext cx="5765656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CUSTOMER SHOPPING BEHAVIOR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377" y="1431278"/>
            <a:ext cx="5156071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600" b="1" spc="-132" kern="100" dirty="0">
                <a:solidFill>
                  <a:srgbClr val="000000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Five growth levers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377" y="3200400"/>
            <a:ext cx="5156071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Translate 3,900 transactions into decisions on subscriptions, loyalty, discounts, products, and targeting.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377" y="4275634"/>
            <a:ext cx="576565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Decision readout · Customer analysis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DECISION FRAME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EXHIBIT 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The analysis is built to answer business questions, not just describe the data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06390" y="2499221"/>
            <a:ext cx="5689458" cy="6350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7" name="Text 5"/>
          <p:cNvSpPr/>
          <p:nvPr/>
        </p:nvSpPr>
        <p:spPr>
          <a:xfrm>
            <a:off x="406390" y="2800052"/>
            <a:ext cx="568945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SCOPE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390" y="3108821"/>
            <a:ext cx="5460863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b="1" spc="-25" kern="100" dirty="0">
                <a:solidFill>
                  <a:srgbClr val="2857D6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3,900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06390" y="3794621"/>
            <a:ext cx="5460863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purchases across 18 columns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06390" y="4284166"/>
            <a:ext cx="5460863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Customers, products, transactions, and shopping behavior in one decision base.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5848" y="2499221"/>
            <a:ext cx="5689458" cy="63500"/>
          </a:xfrm>
          <a:prstGeom prst="rect">
            <a:avLst/>
          </a:prstGeom>
          <a:solidFill>
            <a:srgbClr val="0B7D6F"/>
          </a:solidFill>
          <a:ln/>
        </p:spPr>
      </p:sp>
      <p:sp>
        <p:nvSpPr>
          <p:cNvPr id="12" name="Text 10"/>
          <p:cNvSpPr/>
          <p:nvPr/>
        </p:nvSpPr>
        <p:spPr>
          <a:xfrm>
            <a:off x="6324442" y="2800052"/>
            <a:ext cx="546086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OUTCOME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4442" y="3108821"/>
            <a:ext cx="5460863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b="1" spc="-25" kern="100" dirty="0">
                <a:solidFill>
                  <a:srgbClr val="0B7D6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1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324442" y="3794621"/>
            <a:ext cx="5460863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practical growth agenda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24442" y="4284166"/>
            <a:ext cx="5460863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 customer segments and purchase behavior to actions the business can test.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6390" y="5492948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SOURCE · Customer shopping behavior analysis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5831384"/>
            <a:ext cx="12191695" cy="2540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19" name="Text 17"/>
          <p:cNvSpPr/>
          <p:nvPr/>
        </p:nvSpPr>
        <p:spPr>
          <a:xfrm>
            <a:off x="406390" y="6247132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SO WHAT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113207" y="6219230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value is in turning patterns into choices, tests, and owners.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9498" y="2499221"/>
            <a:ext cx="12700" cy="2489994"/>
          </a:xfrm>
          <a:prstGeom prst="rect">
            <a:avLst/>
          </a:prstGeom>
          <a:solidFill>
            <a:srgbClr val="AEB8C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EXHIBIT 02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A clean Python-to-SQL workflow made the dataset decision-ready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2745284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6390" y="3029744"/>
            <a:ext cx="3488146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8" name="Text 6"/>
          <p:cNvSpPr/>
          <p:nvPr/>
        </p:nvSpPr>
        <p:spPr>
          <a:xfrm>
            <a:off x="406390" y="3179366"/>
            <a:ext cx="3488146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6390" y="3424634"/>
            <a:ext cx="348814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Profile and clean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06390" y="3914180"/>
            <a:ext cx="3488146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Profile the dataset, check its shape, and prepare the fields for analysis.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51725" y="2745284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51725" y="3029744"/>
            <a:ext cx="3488146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13" name="Text 11"/>
          <p:cNvSpPr/>
          <p:nvPr/>
        </p:nvSpPr>
        <p:spPr>
          <a:xfrm>
            <a:off x="4351725" y="3179366"/>
            <a:ext cx="3488146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QUALITY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51725" y="3424634"/>
            <a:ext cx="348814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Impute and standardize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351725" y="3914180"/>
            <a:ext cx="3488146" cy="82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Impute 37 missing review ratings using category medians and standardize columns.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97060" y="2745284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97060" y="3029744"/>
            <a:ext cx="3488146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18" name="Text 16"/>
          <p:cNvSpPr/>
          <p:nvPr/>
        </p:nvSpPr>
        <p:spPr>
          <a:xfrm>
            <a:off x="8297060" y="3179366"/>
            <a:ext cx="3488146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97060" y="3424634"/>
            <a:ext cx="348814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 for analysis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297060" y="3914180"/>
            <a:ext cx="3488146" cy="82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 the cleaned dataset into PostgreSQL for structured business analysis.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6390" y="5492948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SOURCE · Python preparation and PostgreSQL analysis workflow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831384"/>
            <a:ext cx="12191695" cy="2540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24" name="Text 22"/>
          <p:cNvSpPr/>
          <p:nvPr/>
        </p:nvSpPr>
        <p:spPr>
          <a:xfrm>
            <a:off x="406390" y="6247132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SO WHAT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2113207" y="6219230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workflow makes the data reliable enough to support business choices.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REVENUE LENS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EXHIBIT 03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Revenue differences reveal where customer strategy should focus</a:t>
            </a:r>
            <a:endParaRPr lang="en-US" sz="4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2542778"/>
            <a:ext cx="6032349" cy="24217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52392" y="2590106"/>
            <a:ext cx="4732914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DECISION LENS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52392" y="2835374"/>
            <a:ext cx="4732914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 revenue by gender and age group.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052392" y="3671590"/>
            <a:ext cx="4732914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the strongest contributing groups as the starting point for targeted marketing.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052392" y="4389338"/>
            <a:ext cx="1561763" cy="38100"/>
          </a:xfrm>
          <a:prstGeom prst="roundRect">
            <a:avLst>
              <a:gd name="adj" fmla="val 49999"/>
            </a:avLst>
          </a:prstGeom>
          <a:solidFill>
            <a:srgbClr val="2857D6"/>
          </a:solidFill>
          <a:ln/>
        </p:spPr>
      </p:sp>
      <p:sp>
        <p:nvSpPr>
          <p:cNvPr id="11" name="Text 8"/>
          <p:cNvSpPr/>
          <p:nvPr/>
        </p:nvSpPr>
        <p:spPr>
          <a:xfrm>
            <a:off x="7052392" y="4598491"/>
            <a:ext cx="473291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The analysis identifies where attention should concentrate before targeting is scaled.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6390" y="5492849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SOURCE · Customer shopping behavior analysis · supplied revenue figure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14" name="Shape 11"/>
          <p:cNvSpPr/>
          <p:nvPr/>
        </p:nvSpPr>
        <p:spPr>
          <a:xfrm>
            <a:off x="0" y="5831384"/>
            <a:ext cx="12191695" cy="2540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15" name="Text 12"/>
          <p:cNvSpPr/>
          <p:nvPr/>
        </p:nvSpPr>
        <p:spPr>
          <a:xfrm>
            <a:off x="406390" y="6247132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SO WHAT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2113207" y="6219230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 with the groups already contributing the most revenue, then sharpen the message.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DISCOUNTS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EXHIBIT 04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Discounts can attract spenders, but some products may be over-dependent on them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06390" y="2700536"/>
            <a:ext cx="5689458" cy="6350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7" name="Text 5"/>
          <p:cNvSpPr/>
          <p:nvPr/>
        </p:nvSpPr>
        <p:spPr>
          <a:xfrm>
            <a:off x="406390" y="3001367"/>
            <a:ext cx="568945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CUSTOMER TEST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390" y="3246636"/>
            <a:ext cx="5460863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 discount users who spend above the average purchase amount.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06390" y="4082852"/>
            <a:ext cx="5460863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customers show where discounts may be attracting valuable spend.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48" y="2700536"/>
            <a:ext cx="5689458" cy="6350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11" name="Text 9"/>
          <p:cNvSpPr/>
          <p:nvPr/>
        </p:nvSpPr>
        <p:spPr>
          <a:xfrm>
            <a:off x="6324442" y="3001367"/>
            <a:ext cx="546086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PRODUCT REVIEW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24442" y="3246636"/>
            <a:ext cx="5460863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Flag the five products with the highest share of discounted purchases.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324442" y="4082852"/>
            <a:ext cx="5460863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margin dependence before extending or broadening the offer.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390" y="5492948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SOURCE · Customer shopping behavior analysis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831384"/>
            <a:ext cx="12191695" cy="2540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17" name="Text 15"/>
          <p:cNvSpPr/>
          <p:nvPr/>
        </p:nvSpPr>
        <p:spPr>
          <a:xfrm>
            <a:off x="406390" y="6247132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SO WHAT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113207" y="6219230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Protect the customers discounts attract while challenging dependence where margin is exposed.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9498" y="2700536"/>
            <a:ext cx="12700" cy="2087364"/>
          </a:xfrm>
          <a:prstGeom prst="rect">
            <a:avLst/>
          </a:prstGeom>
          <a:solidFill>
            <a:srgbClr val="AEB8C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PRODUCTS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EXHIBIT 05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Product positioning should combine customer love with purchase momentum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06390" y="2700536"/>
            <a:ext cx="5689458" cy="63500"/>
          </a:xfrm>
          <a:prstGeom prst="rect">
            <a:avLst/>
          </a:prstGeom>
          <a:solidFill>
            <a:srgbClr val="0B7D6F"/>
          </a:solidFill>
          <a:ln/>
        </p:spPr>
      </p:sp>
      <p:sp>
        <p:nvSpPr>
          <p:cNvPr id="7" name="Text 5"/>
          <p:cNvSpPr/>
          <p:nvPr/>
        </p:nvSpPr>
        <p:spPr>
          <a:xfrm>
            <a:off x="406390" y="3001367"/>
            <a:ext cx="568945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PROOF POINTS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390" y="3246636"/>
            <a:ext cx="5460863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the top five products by average review rating.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06390" y="4082852"/>
            <a:ext cx="5460863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love gives campaigns a credible reason to feature them.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48" y="2700536"/>
            <a:ext cx="5689458" cy="6350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11" name="Text 9"/>
          <p:cNvSpPr/>
          <p:nvPr/>
        </p:nvSpPr>
        <p:spPr>
          <a:xfrm>
            <a:off x="6324442" y="3001367"/>
            <a:ext cx="546086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DEMAND CHECK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24442" y="3246636"/>
            <a:ext cx="5460863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Pair ratings with the top three products in each category.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324442" y="4082852"/>
            <a:ext cx="5460863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satisfaction with purchase momentum before deciding what to scale.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390" y="5492948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SOURCE · Customer shopping behavior analysis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831384"/>
            <a:ext cx="12191695" cy="2540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17" name="Text 15"/>
          <p:cNvSpPr/>
          <p:nvPr/>
        </p:nvSpPr>
        <p:spPr>
          <a:xfrm>
            <a:off x="406390" y="6247132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SO WHAT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113207" y="6219230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products that earn affection and already have a reason to move.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06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9498" y="2700536"/>
            <a:ext cx="12700" cy="2087364"/>
          </a:xfrm>
          <a:prstGeom prst="rect">
            <a:avLst/>
          </a:prstGeom>
          <a:solidFill>
            <a:srgbClr val="AEB8C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CONVERSION TESTS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EXHIBIT 06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Subscriptions and shipping behavior create clear tests for conversion</a:t>
            </a:r>
            <a:endParaRPr lang="en-US" sz="4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3262313"/>
            <a:ext cx="7281085" cy="10814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44663" y="2207022"/>
            <a:ext cx="364054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TWO COMPARISONS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44663" y="2452291"/>
            <a:ext cx="3640543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Subscribers versus non-subscribers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144663" y="3288506"/>
            <a:ext cx="3640543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 average spend and total revenue before shaping the subscription offer.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44663" y="4018955"/>
            <a:ext cx="3640543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 versus express shipping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144663" y="4855170"/>
            <a:ext cx="3640543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whether urgency correlates with higher-value baskets.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6390" y="5591572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SOURCE · Customer shopping behavior analysis · supplied subscription figure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0" y="5930106"/>
            <a:ext cx="12191695" cy="927894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14" name="Shape 11"/>
          <p:cNvSpPr/>
          <p:nvPr/>
        </p:nvSpPr>
        <p:spPr>
          <a:xfrm>
            <a:off x="0" y="5930106"/>
            <a:ext cx="12191695" cy="2540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15" name="Text 12"/>
          <p:cNvSpPr/>
          <p:nvPr/>
        </p:nvSpPr>
        <p:spPr>
          <a:xfrm>
            <a:off x="406390" y="6296444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SO WHAT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2113207" y="6268541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observed behavior to define conversion tests, not assumptions about why customers spend.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LOYALTY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EXHIBIT 07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Purchase history gives the loyalty program a measurable ladder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2745284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6390" y="3029744"/>
            <a:ext cx="3488146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8" name="Text 6"/>
          <p:cNvSpPr/>
          <p:nvPr/>
        </p:nvSpPr>
        <p:spPr>
          <a:xfrm>
            <a:off x="406390" y="3179366"/>
            <a:ext cx="3488146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6390" y="3424634"/>
            <a:ext cx="348814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06390" y="3914180"/>
            <a:ext cx="3488146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Classify customers by purchase history and establish the starting point.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51725" y="2745284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51725" y="3029744"/>
            <a:ext cx="3488146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13" name="Text 11"/>
          <p:cNvSpPr/>
          <p:nvPr/>
        </p:nvSpPr>
        <p:spPr>
          <a:xfrm>
            <a:off x="4351725" y="3179366"/>
            <a:ext cx="3488146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51725" y="3424634"/>
            <a:ext cx="348814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Returning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351725" y="3914180"/>
            <a:ext cx="3488146" cy="82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 repeat buyers and check whether more than five purchases changes subscription likelihood.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97060" y="2745284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97060" y="3029744"/>
            <a:ext cx="3488146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18" name="Text 16"/>
          <p:cNvSpPr/>
          <p:nvPr/>
        </p:nvSpPr>
        <p:spPr>
          <a:xfrm>
            <a:off x="8297060" y="3179366"/>
            <a:ext cx="3488146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97060" y="3424634"/>
            <a:ext cx="348814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Loyal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297060" y="3914180"/>
            <a:ext cx="3488146" cy="82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the relationship to design benefits that move repeat buyers toward loyalty and subscription.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6390" y="5492948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SOURCE · Customer shopping behavior analysis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831384"/>
            <a:ext cx="12191695" cy="2540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24" name="Text 22"/>
          <p:cNvSpPr/>
          <p:nvPr/>
        </p:nvSpPr>
        <p:spPr>
          <a:xfrm>
            <a:off x="406390" y="6247132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SO WHAT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2113207" y="6219230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Loyalty becomes measurable when each purchase moves a customer toward the next benefit.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DECISION TOOL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EXHIBIT 08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The Power BI dashboard turns analysis into a repeatable decision tool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06390" y="2544366"/>
            <a:ext cx="6553036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ONE VIEW, MANY CUTS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390" y="2789634"/>
            <a:ext cx="655303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Keep the decision questions together.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06390" y="3279180"/>
            <a:ext cx="327651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and segments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11502" y="3279180"/>
            <a:ext cx="3047924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Subscription behavior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6390" y="4012704"/>
            <a:ext cx="327651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 performance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11502" y="4012704"/>
            <a:ext cx="3047924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Discounts and shipping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6390" y="4746228"/>
            <a:ext cx="6553036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 groups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6515" y="2198291"/>
            <a:ext cx="4368691" cy="316160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06390" y="5492849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SOURCE · Customer shopping behavior analysis · supplied Power BI dashboard figure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0" y="5831384"/>
            <a:ext cx="12191695" cy="1026616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16" name="Shape 13"/>
          <p:cNvSpPr/>
          <p:nvPr/>
        </p:nvSpPr>
        <p:spPr>
          <a:xfrm>
            <a:off x="0" y="5831384"/>
            <a:ext cx="12191695" cy="2540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17" name="Text 14"/>
          <p:cNvSpPr/>
          <p:nvPr/>
        </p:nvSpPr>
        <p:spPr>
          <a:xfrm>
            <a:off x="406390" y="6247132"/>
            <a:ext cx="17068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SO WHAT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2113207" y="6219230"/>
            <a:ext cx="967209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repeatable dashboard keeps the same evidence in the room as decisions evolve.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09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76558" y="3279180"/>
            <a:ext cx="12700" cy="504924"/>
          </a:xfrm>
          <a:prstGeom prst="rect">
            <a:avLst/>
          </a:prstGeom>
          <a:solidFill>
            <a:srgbClr val="AEB8C2"/>
          </a:solidFill>
          <a:ln/>
        </p:spPr>
      </p:sp>
      <p:sp>
        <p:nvSpPr>
          <p:cNvPr id="21" name="Shape 18"/>
          <p:cNvSpPr/>
          <p:nvPr/>
        </p:nvSpPr>
        <p:spPr>
          <a:xfrm>
            <a:off x="406390" y="3777754"/>
            <a:ext cx="3276518" cy="12700"/>
          </a:xfrm>
          <a:prstGeom prst="rect">
            <a:avLst/>
          </a:prstGeom>
          <a:solidFill>
            <a:srgbClr val="AEB8C2"/>
          </a:solidFill>
          <a:ln/>
        </p:spPr>
      </p:sp>
      <p:sp>
        <p:nvSpPr>
          <p:cNvPr id="22" name="Shape 19"/>
          <p:cNvSpPr/>
          <p:nvPr/>
        </p:nvSpPr>
        <p:spPr>
          <a:xfrm>
            <a:off x="3676558" y="3784104"/>
            <a:ext cx="12700" cy="733524"/>
          </a:xfrm>
          <a:prstGeom prst="rect">
            <a:avLst/>
          </a:prstGeom>
          <a:solidFill>
            <a:srgbClr val="AEB8C2"/>
          </a:solidFill>
          <a:ln/>
        </p:spPr>
      </p:sp>
      <p:sp>
        <p:nvSpPr>
          <p:cNvPr id="23" name="Shape 20"/>
          <p:cNvSpPr/>
          <p:nvPr/>
        </p:nvSpPr>
        <p:spPr>
          <a:xfrm>
            <a:off x="3682908" y="3777754"/>
            <a:ext cx="3276518" cy="12700"/>
          </a:xfrm>
          <a:prstGeom prst="rect">
            <a:avLst/>
          </a:prstGeom>
          <a:solidFill>
            <a:srgbClr val="AEB8C2"/>
          </a:solidFill>
          <a:ln/>
        </p:spPr>
      </p:sp>
      <p:sp>
        <p:nvSpPr>
          <p:cNvPr id="24" name="Shape 21"/>
          <p:cNvSpPr/>
          <p:nvPr/>
        </p:nvSpPr>
        <p:spPr>
          <a:xfrm>
            <a:off x="406390" y="4511278"/>
            <a:ext cx="6553036" cy="12700"/>
          </a:xfrm>
          <a:prstGeom prst="rect">
            <a:avLst/>
          </a:prstGeom>
          <a:solidFill>
            <a:srgbClr val="AEB8C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8931"/>
            <a:ext cx="75858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GROWTH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92267" y="336153"/>
            <a:ext cx="37929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EXHIBIT 09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390" y="731837"/>
            <a:ext cx="11378915" cy="31651"/>
          </a:xfrm>
          <a:prstGeom prst="roundRect">
            <a:avLst>
              <a:gd name="adj" fmla="val 49998"/>
            </a:avLst>
          </a:prstGeom>
          <a:solidFill>
            <a:srgbClr val="AEB8C2"/>
          </a:solidFill>
          <a:ln/>
        </p:spPr>
      </p:sp>
      <p:sp>
        <p:nvSpPr>
          <p:cNvPr id="5" name="Text 3"/>
          <p:cNvSpPr/>
          <p:nvPr/>
        </p:nvSpPr>
        <p:spPr>
          <a:xfrm>
            <a:off x="406390" y="1010920"/>
            <a:ext cx="1137891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Five actions turn the analysis into a growth agenda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06390" y="1948160"/>
            <a:ext cx="414327" cy="414338"/>
          </a:xfrm>
          <a:prstGeom prst="ellipse">
            <a:avLst/>
          </a:prstGeom>
          <a:solidFill>
            <a:srgbClr val="2857D6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2002929"/>
            <a:ext cx="9223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98513" y="2053729"/>
            <a:ext cx="10786793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Boost subscriptions with exclusive benefits.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6390" y="2565698"/>
            <a:ext cx="414327" cy="414338"/>
          </a:xfrm>
          <a:prstGeom prst="ellipse">
            <a:avLst/>
          </a:prstGeom>
          <a:solidFill>
            <a:srgbClr val="2857D6"/>
          </a:solidFill>
          <a:ln/>
        </p:spPr>
      </p:sp>
      <p:sp>
        <p:nvSpPr>
          <p:cNvPr id="10" name="Text 8"/>
          <p:cNvSpPr/>
          <p:nvPr/>
        </p:nvSpPr>
        <p:spPr>
          <a:xfrm>
            <a:off x="457189" y="2620466"/>
            <a:ext cx="9223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8513" y="2671266"/>
            <a:ext cx="10786793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and move more customers into the Loyal segment.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6390" y="3183235"/>
            <a:ext cx="414327" cy="414338"/>
          </a:xfrm>
          <a:prstGeom prst="ellipse">
            <a:avLst/>
          </a:prstGeom>
          <a:solidFill>
            <a:srgbClr val="2857D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189" y="3238004"/>
            <a:ext cx="9223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98513" y="3288804"/>
            <a:ext cx="10786793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discount policy where dependence is highest.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6390" y="3800773"/>
            <a:ext cx="414327" cy="414338"/>
          </a:xfrm>
          <a:prstGeom prst="ellipse">
            <a:avLst/>
          </a:prstGeom>
          <a:solidFill>
            <a:srgbClr val="2857D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189" y="3855541"/>
            <a:ext cx="9223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8513" y="3906341"/>
            <a:ext cx="10786793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top-rated and best-selling products.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6390" y="4418310"/>
            <a:ext cx="414327" cy="414338"/>
          </a:xfrm>
          <a:prstGeom prst="ellipse">
            <a:avLst/>
          </a:prstGeom>
          <a:solidFill>
            <a:srgbClr val="2857D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189" y="4473079"/>
            <a:ext cx="92231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98513" y="4523879"/>
            <a:ext cx="10786793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 high-revenue age groups and express-shipping users.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6390" y="5303441"/>
            <a:ext cx="117853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56616A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SOURCE · Customer shopping behavior analysis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5641876"/>
            <a:ext cx="12191695" cy="1216124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641876"/>
            <a:ext cx="12191695" cy="25400"/>
          </a:xfrm>
          <a:prstGeom prst="rect">
            <a:avLst/>
          </a:prstGeom>
          <a:solidFill>
            <a:srgbClr val="BF3F28"/>
          </a:solidFill>
          <a:ln/>
        </p:spPr>
      </p:sp>
      <p:sp>
        <p:nvSpPr>
          <p:cNvPr id="24" name="Text 22"/>
          <p:cNvSpPr/>
          <p:nvPr/>
        </p:nvSpPr>
        <p:spPr>
          <a:xfrm>
            <a:off x="711182" y="6152378"/>
            <a:ext cx="119883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b="1" spc="126" kern="100" dirty="0">
                <a:solidFill>
                  <a:srgbClr val="BF3F28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SO WHAT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2316402" y="6124476"/>
            <a:ext cx="9468903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Five focused moves connect the analysis to how customers spend, return, subscribe, and choose.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06390" y="2457748"/>
            <a:ext cx="11378915" cy="12700"/>
          </a:xfrm>
          <a:prstGeom prst="rect">
            <a:avLst/>
          </a:prstGeom>
          <a:solidFill>
            <a:srgbClr val="AEB8C2"/>
          </a:solidFill>
          <a:ln/>
        </p:spPr>
      </p:sp>
      <p:sp>
        <p:nvSpPr>
          <p:cNvPr id="28" name="Shape 26"/>
          <p:cNvSpPr/>
          <p:nvPr/>
        </p:nvSpPr>
        <p:spPr>
          <a:xfrm>
            <a:off x="406390" y="3075285"/>
            <a:ext cx="11378915" cy="12700"/>
          </a:xfrm>
          <a:prstGeom prst="rect">
            <a:avLst/>
          </a:prstGeom>
          <a:solidFill>
            <a:srgbClr val="AEB8C2"/>
          </a:solidFill>
          <a:ln/>
        </p:spPr>
      </p:sp>
      <p:sp>
        <p:nvSpPr>
          <p:cNvPr id="29" name="Shape 27"/>
          <p:cNvSpPr/>
          <p:nvPr/>
        </p:nvSpPr>
        <p:spPr>
          <a:xfrm>
            <a:off x="406390" y="3692823"/>
            <a:ext cx="11378915" cy="12700"/>
          </a:xfrm>
          <a:prstGeom prst="rect">
            <a:avLst/>
          </a:prstGeom>
          <a:solidFill>
            <a:srgbClr val="AEB8C2"/>
          </a:solidFill>
          <a:ln/>
        </p:spPr>
      </p:sp>
      <p:sp>
        <p:nvSpPr>
          <p:cNvPr id="30" name="Shape 28"/>
          <p:cNvSpPr/>
          <p:nvPr/>
        </p:nvSpPr>
        <p:spPr>
          <a:xfrm>
            <a:off x="406390" y="4310360"/>
            <a:ext cx="11378915" cy="12700"/>
          </a:xfrm>
          <a:prstGeom prst="rect">
            <a:avLst/>
          </a:prstGeom>
          <a:solidFill>
            <a:srgbClr val="AEB8C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2026-10-09T02:30:12Z</dcterms:created>
  <dcterms:modified xsi:type="dcterms:W3CDTF">2026-10-09T02:30:12Z</dcterms:modified>
</cp:coreProperties>
</file>